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65" r:id="rId4"/>
    <p:sldId id="258" r:id="rId5"/>
    <p:sldId id="257" r:id="rId6"/>
    <p:sldId id="266" r:id="rId7"/>
    <p:sldId id="260" r:id="rId8"/>
    <p:sldId id="259" r:id="rId9"/>
    <p:sldId id="261" r:id="rId10"/>
    <p:sldId id="262" r:id="rId11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63" r:id="rId12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D6FF"/>
    <a:srgbClr val="EEF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5"/>
    <p:restoredTop sz="94661"/>
  </p:normalViewPr>
  <p:slideViewPr>
    <p:cSldViewPr snapToGrid="0">
      <p:cViewPr>
        <p:scale>
          <a:sx n="72" d="100"/>
          <a:sy n="72" d="100"/>
        </p:scale>
        <p:origin x="32" y="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7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3864"/>
                </a:solidFill>
                <a:latin typeface="맑은 고딕"/>
              </a:rPr>
              <a:t>Q8 서비스 필요성 분포 (5점 만점)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응답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1점</c:v>
                </c:pt>
                <c:pt idx="1">
                  <c:v>2점</c:v>
                </c:pt>
                <c:pt idx="2">
                  <c:v>3점</c:v>
                </c:pt>
                <c:pt idx="3">
                  <c:v>4점</c:v>
                </c:pt>
                <c:pt idx="4">
                  <c:v>5점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20</c:v>
                </c:pt>
                <c:pt idx="4">
                  <c:v>21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1F3864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3864"/>
                </a:solidFill>
                <a:latin typeface="맑은 고딕"/>
              </a:rPr>
              <a:t>Q9 주당 수강 강의 수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응답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4개↓</c:v>
                </c:pt>
                <c:pt idx="1">
                  <c:v>5-6개</c:v>
                </c:pt>
                <c:pt idx="2">
                  <c:v>7-8개</c:v>
                </c:pt>
                <c:pt idx="3">
                  <c:v>15개↑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13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1F3864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3864"/>
                </a:solidFill>
                <a:latin typeface="맑은 고딕"/>
              </a:rPr>
              <a:t>Q11 현재 월 지출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응답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0원</c:v>
                </c:pt>
                <c:pt idx="1">
                  <c:v>1만↓</c:v>
                </c:pt>
                <c:pt idx="2">
                  <c:v>1-3만</c:v>
                </c:pt>
                <c:pt idx="3">
                  <c:v>3-5만</c:v>
                </c:pt>
                <c:pt idx="4">
                  <c:v>5만+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4</c:v>
                </c:pt>
                <c:pt idx="2">
                  <c:v>10</c:v>
                </c:pt>
                <c:pt idx="3">
                  <c:v>7</c:v>
                </c:pt>
                <c:pt idx="4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1F3864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3864"/>
                </a:solidFill>
                <a:latin typeface="맑은 고딕"/>
              </a:rPr>
              <a:t>Q12 지불의향(최대)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응답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1만↓</c:v>
                </c:pt>
                <c:pt idx="1">
                  <c:v>1만원</c:v>
                </c:pt>
                <c:pt idx="2">
                  <c:v>1.5만</c:v>
                </c:pt>
                <c:pt idx="3">
                  <c:v>2만↑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21</c:v>
                </c:pt>
                <c:pt idx="2">
                  <c:v>4</c:v>
                </c:pt>
                <c:pt idx="3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1F3864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3864"/>
                </a:solidFill>
                <a:latin typeface="맑은 고딕"/>
              </a:rPr>
              <a:t>Q13 품질의심 하한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응답</c:v>
                </c:pt>
              </c:strCache>
            </c:strRef>
          </c:tx>
          <c:spPr>
            <a:solidFill>
              <a:srgbClr val="1D9E75"/>
            </a:solidFill>
          </c:spPr>
          <c:cat>
            <c:strRef>
              <c:f>Sheet1!$A$2:$A$6</c:f>
              <c:strCache>
                <c:ptCount val="5"/>
                <c:pt idx="0">
                  <c:v>0원</c:v>
                </c:pt>
                <c:pt idx="1">
                  <c:v>1~3천</c:v>
                </c:pt>
                <c:pt idx="2">
                  <c:v>3~5천</c:v>
                </c:pt>
                <c:pt idx="3">
                  <c:v>5천+</c:v>
                </c:pt>
                <c:pt idx="4">
                  <c:v>무료OK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17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1F3864"/>
                  </a:solidFill>
                  <a:latin typeface="맑은 고딕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51253-DC8C-974A-BDAF-7937E1F051D8}" type="datetimeFigureOut">
              <a:rPr lang="en-KR" smtClean="0"/>
              <a:t>7/10/26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76478-4955-8C49-816C-2679939A574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3325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전체적인 </a:t>
            </a:r>
            <a:r>
              <a:rPr lang="ko-KR" altLang="en-US" dirty="0" err="1"/>
              <a:t>플로우차트입니다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우선 사용자는 강의록 자료와 녹음본을 페이지 메인 화면에 업로드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그러면 </a:t>
            </a:r>
            <a:r>
              <a:rPr lang="en-US" altLang="ko-KR" dirty="0"/>
              <a:t>STT</a:t>
            </a:r>
            <a:r>
              <a:rPr lang="ko-KR" altLang="en-US" dirty="0"/>
              <a:t> 모델이 녹음본을 텍스트로 변환하고</a:t>
            </a:r>
            <a:r>
              <a:rPr lang="en-US" altLang="ko-KR" dirty="0"/>
              <a:t>,</a:t>
            </a:r>
            <a:r>
              <a:rPr lang="ko-KR" altLang="en-US" dirty="0"/>
              <a:t> 변환된 텍스트는 강의록의 </a:t>
            </a:r>
            <a:r>
              <a:rPr lang="ko-KR" altLang="en-US" dirty="0" err="1"/>
              <a:t>워딩을</a:t>
            </a:r>
            <a:r>
              <a:rPr lang="ko-KR" altLang="en-US" dirty="0"/>
              <a:t> 기반으로 전문 용어로 교정되고 오타 또한 교정됩니다</a:t>
            </a:r>
            <a:r>
              <a:rPr lang="en-US" altLang="ko-KR" dirty="0"/>
              <a:t>.</a:t>
            </a:r>
            <a:r>
              <a:rPr lang="ko-KR" altLang="en-US" dirty="0"/>
              <a:t> 이때</a:t>
            </a:r>
            <a:r>
              <a:rPr lang="en-US" altLang="ko-KR" dirty="0"/>
              <a:t>,</a:t>
            </a:r>
            <a:r>
              <a:rPr lang="ko-KR" altLang="en-US" dirty="0"/>
              <a:t> 가독성을 높이기 위해 </a:t>
            </a:r>
            <a:r>
              <a:rPr lang="en-US" altLang="ko-KR" dirty="0"/>
              <a:t>‘</a:t>
            </a:r>
            <a:r>
              <a:rPr lang="ko-KR" altLang="en-US" dirty="0"/>
              <a:t>이제</a:t>
            </a:r>
            <a:r>
              <a:rPr lang="en-US" altLang="ko-KR" dirty="0"/>
              <a:t>’,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그</a:t>
            </a:r>
            <a:r>
              <a:rPr lang="en-US" altLang="ko-KR" dirty="0"/>
              <a:t>’</a:t>
            </a:r>
            <a:r>
              <a:rPr lang="ko-KR" altLang="en-US" dirty="0"/>
              <a:t>와 같은 불필요한 반복을 생략하고 문어체로 바꿔주는 </a:t>
            </a:r>
            <a:r>
              <a:rPr lang="en-US" altLang="ko-KR" dirty="0"/>
              <a:t>‘</a:t>
            </a:r>
            <a:r>
              <a:rPr lang="ko-KR" altLang="en-US" dirty="0"/>
              <a:t>가독성모드</a:t>
            </a:r>
            <a:r>
              <a:rPr lang="en-US" altLang="ko-KR" dirty="0"/>
              <a:t>’</a:t>
            </a:r>
            <a:r>
              <a:rPr lang="ko-KR" altLang="en-US" dirty="0"/>
              <a:t> 또한 옵션으로 </a:t>
            </a:r>
            <a:r>
              <a:rPr lang="ko-KR" altLang="en-US" dirty="0" err="1"/>
              <a:t>포함되어있습니다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중요</a:t>
            </a:r>
            <a:r>
              <a:rPr lang="en-US" altLang="ko-KR" dirty="0"/>
              <a:t>’.</a:t>
            </a:r>
            <a:r>
              <a:rPr lang="ko-KR" altLang="en-US" dirty="0"/>
              <a:t> </a:t>
            </a:r>
            <a:r>
              <a:rPr lang="en-US" altLang="ko-KR" dirty="0"/>
              <a:t>‘</a:t>
            </a:r>
            <a:r>
              <a:rPr lang="ko-KR" altLang="en-US" dirty="0"/>
              <a:t>시험</a:t>
            </a:r>
            <a:r>
              <a:rPr lang="en-US" altLang="ko-KR" dirty="0"/>
              <a:t>’</a:t>
            </a:r>
            <a:r>
              <a:rPr lang="ko-KR" altLang="en-US" dirty="0"/>
              <a:t>과 같은 단어가 나오면 이후에 볼드체로 표기되는 </a:t>
            </a:r>
            <a:r>
              <a:rPr lang="en-US" altLang="ko-KR" dirty="0"/>
              <a:t>‘</a:t>
            </a:r>
            <a:r>
              <a:rPr lang="ko-KR" altLang="en-US" dirty="0"/>
              <a:t>강조 기능</a:t>
            </a:r>
            <a:r>
              <a:rPr lang="en-US" altLang="ko-KR" dirty="0"/>
              <a:t>’</a:t>
            </a:r>
            <a:r>
              <a:rPr lang="ko-KR" altLang="en-US" dirty="0"/>
              <a:t> 또한 포함되어 있습니다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76478-4955-8C49-816C-2679939A5748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960323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+</a:t>
            </a:r>
            <a:r>
              <a:rPr lang="ko-KR" altLang="en-US" dirty="0"/>
              <a:t> 추가 부탁 </a:t>
            </a:r>
            <a:r>
              <a:rPr lang="en-US" altLang="ko-KR" dirty="0"/>
              <a:t>^</a:t>
            </a:r>
            <a:r>
              <a:rPr lang="ko-KR" altLang="en-US" dirty="0"/>
              <a:t> </a:t>
            </a:r>
            <a:r>
              <a:rPr lang="en-US" altLang="ko-KR" dirty="0"/>
              <a:t>^..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76478-4955-8C49-816C-2679939A5748}" type="slidenum">
              <a:rPr lang="en-KR" smtClean="0"/>
              <a:t>10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437261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같이 이야기할 포인트</a:t>
            </a:r>
            <a:r>
              <a:rPr lang="en-US" altLang="ko-KR" dirty="0"/>
              <a:t>!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76478-4955-8C49-816C-2679939A5748}" type="slidenum">
              <a:rPr lang="en-KR" smtClean="0"/>
              <a:t>11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40113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설문 44명으로 수요를 정량 검증했습니다. 필요성 평균 4.4/5, 93%가 4점 이상. 주당 강의는 중앙값 6개지만 일부는 15~30개로 수업 밀도 높은 전공(의약학 등) 헤비유저가 존재하고, 이게 오히려 핵심 타겟과 맞습니다.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일회성 관심인지 확인했습니다. 월 사용 예상 89%가 5회 이상, 5-10회 구간이 16명으로 최다. 시험기간에만이 아니라 평소 반복 사용 도구가 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가격입니다. 지불의향 중앙값·최빈값 모두 1만원(21명), 2만원 이상도 8명. 품질의심 하한은 중앙값 3천원이라 적정 가격대는 3천~1만원. 현재 45%는 0원이지만 55%는 이미 지불 중이라 지불 습관이 있는 시장이고, 월 1만원대 정액을 가격 전략으로 잡았습니다.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비즈니스 모델은 아직 확정이 아니라 가설 단계입니다. 크게 학생 구독(B2C, 설문에서 월 1만원대가 검증됨), 학교 라이선스와 학원·인강 대상 B2B 공급을 보고 있습니다. 다만 지금 우선순위는 수익화보다 '사용성 검증'이라는 점을 솔직하게 말씀드립니다 — 이게 오히려 현실적인 접근이라고 생각합니다.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지금까지의 진행 상황입니다. 해커톤에서 우승했고, MVP를 제작했으며, 디자인을 완성하고 개발과 멘토링을 진행 중입니다. 아이디어에 그치지 않고 실제로 만들며 검증하고 있다는 걸 보여드립니다.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가장 중요한 부분입니다. 앞으로 검증할 핵심 질문은 네 가지입니다. 학생이 실제로 결제할지, 강의당 적정 원가는 얼마인지, 요약과 퀴즈 중 무엇을 더 쓰는지, 그리고 어떤 기능이 재방문(Retention)을 만드는지입니다. 이 답을 데이터로 채워가는 게 다음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원가는 이미 실험을 시작했습니다. 품질 기준인 terra는 월 4.3만원으로 예산을 넘습니다. 여러 저가 모델을 비교했더니 luna가 품질은 terra에 근접하면서 원가는 3분의 1(월 1.7만원)이라 현재 가장 유력한 후보입니다. 더 저렴한 모델들은 원가는 낮지만 출력이 잘리거나 교정이 부실한 신호가 있어 품질 검증을 더 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가지 솔직한 이슈는 전사 단계입니다. 지금은 빠른 대신 성능이 낮은 Whisper 모델을 써서, 이게 교정 품질에도 영향을 줍니다. 그래서 먼저 더 좋은 전사 모델로 바꾼 뒤 비용과 품질을 다시 평가할 계획입니다. 만약 그래도 적정한 조합을 못 찾으면, 전사 교정은 사용자의 AI에 맡기고 서비스를 '교정된 전사본을 강의록에 매칭'하는 방식으로 바꾸는 대안도 열어두고 있습니다. 마지막으로 Whisper는 지금 로컬이라 공짜지만 상용화하면 서버 비용이 붙을 수 있어 원가 계획에 반영할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085C-559E-213D-26DD-9CD213849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ABD3-AFE6-E0D4-1479-7BF5AF129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92E88-16EB-B343-5670-B53EF71B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045D7-D746-63FB-21EE-F5BC58327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7998C-263F-1898-BD27-FDB13D8D6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52356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395A-F623-0FFD-933C-FBC6D308B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903E3-F6DB-C6C4-360D-0F1D9B106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416AE-A858-8B8A-5ECE-95A523D5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7C998-D45D-861E-C31D-57410D25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09492-F4CC-205C-2C8D-555B1F86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22502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39089-2593-DFA1-BF80-C738C565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89C27-F661-A616-7C80-AE885E17D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E7E0A-E0C1-7A7B-C29E-12A31D6A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80415-4136-43C9-4C87-4AE6D458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4989B-9EF7-D807-FF72-014D6F7A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5201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55E8-628C-1B26-A51C-E56F2F8D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ECD0F-9B30-FC51-7569-31087C0EB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D7D254-C246-25A5-A0B0-16A574D72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96971-9F24-AD7B-506E-92A7D53B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89A84-AD76-4CCE-9189-96B7B7827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D694E-ED39-E4EC-728A-39EA66F5F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08209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57FE2-2F4D-2680-C7CD-53FE342DB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8F7D8-7E09-F703-CD27-86C079CF0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FE19F-CC64-220F-B0F9-9A5BEE835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D5BAB9-0410-0871-4EDB-16365FC2E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00615-B4F2-3E11-DD1A-B49EE0715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CA6868-3885-572A-B61F-182AF68E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E6FFD2-6528-8133-3BB9-681805D7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564F9C-D02D-6EED-7599-1C66455A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49121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189C-B577-02E4-182D-9009E9042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1DFAB-8CBE-6F1C-1B2B-B63F6170E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88C14-74AD-FEC2-E1C4-855D86CBC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78BC2-28AE-6B3F-3214-414433F3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442291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7D84BC-892C-C769-9D8E-CC4443FF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3547D-B1BB-1F34-F06A-28759BDBF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BA4F2-0D56-CD94-5A65-32E3E82A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78802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E92A5-CF2C-A53D-A0B8-20CD7A2FB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63B89-1457-5E02-7BCB-587F127D5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9C4E4-181F-C8EB-EEB6-9F9B2025B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FAE2-70AE-1804-F1C8-8494EF7B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E5A1F-82F2-2EC1-8047-772DCFA53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78DF0-CED2-FC84-FBA1-D2A913AD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68327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9FA17-ACED-426C-39BB-645C499DB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F2D44-B241-1EF6-50FC-6BA5C55F3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B7E9B-51E2-8E47-4803-3FD0F5723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1E4CB-19C6-C73A-3A69-0D073ED3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4B10B-0747-61DC-38AC-803D8550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00DBA-FFE4-3383-2D23-86B7DD2E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539774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4A7A-2813-E7E5-7A27-8F74956D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AE9FD-67FD-6A10-837F-BCD314CD8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ECE45-717C-C661-4B22-4C555AD5E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236F9-A92B-AB2E-E94A-E14120DC9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A30D7-630E-9C1D-D86F-EFEFAF10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98795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124C3E-11A1-7260-4AE7-EE1DBD438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B649C-63B6-911B-3C50-6FD1D3761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7931D-54B3-E64B-AC72-7B2B673C2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BF3A5-9050-B4BA-07E6-08F888810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DD772-E48A-6373-2BAF-780D2911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93116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68692-F395-FC5E-3101-A6C0EA010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D1C57-0E06-AE34-9841-D0927BB07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B7C3D-D9BA-5FC5-430E-5C07717F0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3FD4AF-071F-4248-BDE9-5B9BE93F56C7}" type="datetimeFigureOut">
              <a:rPr lang="en-KR" smtClean="0"/>
              <a:t>7/10/26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A46F9-4385-21AC-CBE0-D54F521FB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19E88-168F-3F9B-5137-6133FB644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CB7F7-0C4D-0B49-BDE4-C005A9B504E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8531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A05B-9546-7A3D-E7A7-881128A774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KR" b="1" dirty="0">
                <a:latin typeface="Avenir Book" panose="02000503020000020003" pitchFamily="2" charset="0"/>
              </a:rPr>
              <a:t>1Q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33C22-AAF4-17A0-F775-59846FC87C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ko-KR" altLang="en-US" dirty="0"/>
              <a:t>한 번의 클릭으로 완성되는 필기</a:t>
            </a:r>
            <a:endParaRPr lang="en-US" altLang="ko-KR" dirty="0"/>
          </a:p>
          <a:p>
            <a:pPr algn="l"/>
            <a:r>
              <a:rPr lang="ko-KR" altLang="en-US" dirty="0"/>
              <a:t>강의자료와 녹음본만 업로드하면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pPr algn="l"/>
            <a:r>
              <a:rPr lang="en-US" dirty="0"/>
              <a:t>AI</a:t>
            </a:r>
            <a:r>
              <a:rPr lang="ko-KR" altLang="en-US" dirty="0"/>
              <a:t>가 페이지별 스크립트와 학습 노트를 정리해주는 서비스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4092721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E5031-B46D-1AA1-F805-0478FCCE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팀 소개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미니스터디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05268-CD84-BE4F-5287-8579943C8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노예린</a:t>
            </a:r>
            <a:r>
              <a:rPr lang="en-US" altLang="ko-KR" dirty="0"/>
              <a:t>:</a:t>
            </a:r>
            <a:r>
              <a:rPr lang="ko-KR" altLang="en-US" dirty="0"/>
              <a:t> 기획</a:t>
            </a:r>
            <a:r>
              <a:rPr lang="en-US" altLang="ko-KR" dirty="0"/>
              <a:t>,</a:t>
            </a:r>
            <a:r>
              <a:rPr lang="ko-KR" altLang="en-US" dirty="0"/>
              <a:t> 디자인</a:t>
            </a:r>
            <a:endParaRPr lang="en-US" altLang="ko-KR" dirty="0"/>
          </a:p>
          <a:p>
            <a:r>
              <a:rPr lang="ko-KR" altLang="en-US" dirty="0"/>
              <a:t>이지은</a:t>
            </a:r>
            <a:r>
              <a:rPr lang="en-US" altLang="ko-KR" dirty="0"/>
              <a:t>:</a:t>
            </a:r>
            <a:r>
              <a:rPr lang="ko-KR" altLang="en-US" dirty="0"/>
              <a:t> 기획</a:t>
            </a:r>
            <a:r>
              <a:rPr lang="en-US" altLang="ko-KR" dirty="0"/>
              <a:t>,</a:t>
            </a:r>
            <a:r>
              <a:rPr lang="ko-KR" altLang="en-US" dirty="0"/>
              <a:t>  리서치</a:t>
            </a:r>
            <a:endParaRPr lang="en-US" altLang="ko-KR" dirty="0"/>
          </a:p>
          <a:p>
            <a:r>
              <a:rPr lang="ko-KR" altLang="en-US" dirty="0"/>
              <a:t>서현우</a:t>
            </a:r>
            <a:r>
              <a:rPr lang="en-US" altLang="ko-KR" dirty="0"/>
              <a:t>:</a:t>
            </a:r>
            <a:r>
              <a:rPr lang="ko-KR" altLang="en-US" dirty="0"/>
              <a:t> 개발</a:t>
            </a:r>
            <a:r>
              <a:rPr lang="en-US" altLang="ko-KR" dirty="0"/>
              <a:t>,</a:t>
            </a:r>
            <a:r>
              <a:rPr lang="ko-KR" altLang="en-US" dirty="0"/>
              <a:t> 데모 준비</a:t>
            </a:r>
            <a:endParaRPr lang="en-US" altLang="ko-KR" dirty="0"/>
          </a:p>
          <a:p>
            <a:r>
              <a:rPr lang="ko-KR" altLang="en-US" dirty="0"/>
              <a:t>조성우</a:t>
            </a:r>
            <a:r>
              <a:rPr lang="en-US" altLang="ko-KR" dirty="0"/>
              <a:t>:</a:t>
            </a:r>
            <a:r>
              <a:rPr lang="ko-KR" altLang="en-US" dirty="0"/>
              <a:t> 개발</a:t>
            </a:r>
            <a:r>
              <a:rPr lang="en-US" altLang="ko-KR" dirty="0"/>
              <a:t>,</a:t>
            </a:r>
            <a:r>
              <a:rPr lang="ko-KR" altLang="en-US" dirty="0"/>
              <a:t> 데모 준비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816742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FF29-81E9-37B3-BAD5-AD3D513C3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아이템 한 줄 소개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E0E2A-1838-F735-AA0D-2B4D68B14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1Q : </a:t>
            </a:r>
            <a:r>
              <a:rPr lang="ko-KR" altLang="en-US" dirty="0"/>
              <a:t>강의자료의 페이지에다 해당 강의내용의 스크립트</a:t>
            </a:r>
            <a:r>
              <a:rPr lang="en-US" altLang="ko-KR" dirty="0"/>
              <a:t>,</a:t>
            </a:r>
            <a:r>
              <a:rPr lang="ko-KR" altLang="en-US" dirty="0"/>
              <a:t> 강의 내용 요약</a:t>
            </a:r>
            <a:r>
              <a:rPr lang="en-US" altLang="ko-KR" dirty="0"/>
              <a:t>,</a:t>
            </a:r>
            <a:r>
              <a:rPr lang="ko-KR" altLang="en-US" dirty="0"/>
              <a:t> 퀴즈까지 선택해 첨부해주는 </a:t>
            </a:r>
            <a:r>
              <a:rPr lang="en-US" altLang="ko-KR" dirty="0"/>
              <a:t>AI </a:t>
            </a:r>
            <a:r>
              <a:rPr lang="ko-KR" altLang="en-US" dirty="0"/>
              <a:t>학습 도구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“</a:t>
            </a:r>
            <a:r>
              <a:rPr lang="ko-KR" altLang="en-US" dirty="0"/>
              <a:t>한 큐에 모든 걸 해결</a:t>
            </a:r>
            <a:r>
              <a:rPr lang="en-US" altLang="ko-KR" dirty="0"/>
              <a:t>!”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88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4E552-877C-78A2-827C-BCB5CC8F2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19" y="37106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문제 정의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1.</a:t>
            </a:r>
            <a:r>
              <a:rPr lang="ko-KR" altLang="en-US" dirty="0"/>
              <a:t> 수업 중 필기의 문제</a:t>
            </a:r>
            <a:br>
              <a:rPr lang="en-US" altLang="ko-KR" dirty="0"/>
            </a:br>
            <a:r>
              <a:rPr lang="ko-KR" altLang="en-US" dirty="0"/>
              <a:t>강의 중 필기와 이해를 동시에 하지 못 함</a:t>
            </a:r>
            <a:br>
              <a:rPr lang="en-US" altLang="ko-KR" dirty="0"/>
            </a:br>
            <a:r>
              <a:rPr lang="ko-KR" altLang="en-US" dirty="0"/>
              <a:t>교수님의 설명을 놓칠 때가 많음 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7096B-46E6-2B23-AB24-F2808E8E8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2" y="2506662"/>
            <a:ext cx="12112487" cy="4351338"/>
          </a:xfrm>
        </p:spPr>
        <p:txBody>
          <a:bodyPr/>
          <a:lstStyle/>
          <a:p>
            <a:r>
              <a:rPr lang="ko-KR" altLang="en-US" dirty="0"/>
              <a:t>강의 시간 중 필기하느라 설명을 놓쳐 이해를 하지 못함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PPT</a:t>
            </a:r>
            <a:r>
              <a:rPr lang="ko-KR" altLang="en-US" dirty="0"/>
              <a:t>만 보면 무슨 말인지 기억이 안 남</a:t>
            </a:r>
            <a:endParaRPr lang="en-US" altLang="ko-KR" dirty="0"/>
          </a:p>
          <a:p>
            <a:r>
              <a:rPr lang="ko-KR" altLang="en-US" dirty="0"/>
              <a:t>교수님의 설명을 모두 듣고 놓치지 않기 어려움 </a:t>
            </a:r>
            <a:r>
              <a:rPr lang="en-US" altLang="ko-KR" dirty="0"/>
              <a:t>-&gt;</a:t>
            </a:r>
            <a:r>
              <a:rPr lang="ko-KR" altLang="en-US" dirty="0"/>
              <a:t> 내용은 녹음본에만 있지만</a:t>
            </a:r>
            <a:r>
              <a:rPr lang="en-US" altLang="ko-KR" dirty="0"/>
              <a:t>,</a:t>
            </a:r>
            <a:r>
              <a:rPr lang="ko-KR" altLang="en-US" dirty="0"/>
              <a:t> 녹음본을 </a:t>
            </a:r>
            <a:r>
              <a:rPr lang="ko-KR" altLang="en-US" dirty="0" err="1"/>
              <a:t>일일히</a:t>
            </a:r>
            <a:r>
              <a:rPr lang="ko-KR" altLang="en-US" dirty="0"/>
              <a:t> 돌려보기 번거로워 놓치는 내용이 생기게 됨</a:t>
            </a:r>
            <a:endParaRPr lang="en-US" altLang="ko-KR" dirty="0"/>
          </a:p>
          <a:p>
            <a:r>
              <a:rPr lang="ko-KR" altLang="en-US" dirty="0"/>
              <a:t>필기와 강의자료를 다시 합쳐 정리하는 데 시간이 오래 걸림</a:t>
            </a:r>
            <a:endParaRPr lang="en-US" altLang="ko-KR" dirty="0"/>
          </a:p>
          <a:p>
            <a:r>
              <a:rPr lang="ko-KR" altLang="en-US" dirty="0"/>
              <a:t>시험 직전 </a:t>
            </a:r>
            <a:r>
              <a:rPr lang="en-US" altLang="ko-KR" dirty="0"/>
              <a:t>“</a:t>
            </a:r>
            <a:r>
              <a:rPr lang="ko-KR" altLang="en-US" dirty="0"/>
              <a:t>이 부분 중요했는데</a:t>
            </a:r>
            <a:r>
              <a:rPr lang="en-US" altLang="ko-KR" dirty="0"/>
              <a:t>…”</a:t>
            </a:r>
            <a:r>
              <a:rPr lang="ko-KR" altLang="en-US" dirty="0" err="1"/>
              <a:t>를</a:t>
            </a:r>
            <a:r>
              <a:rPr lang="ko-KR" altLang="en-US" dirty="0"/>
              <a:t> 찾지만 오래 걸림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1951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922E-CA7A-B68E-A199-ED8B966D8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3" y="33707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문제정의</a:t>
            </a:r>
            <a:br>
              <a:rPr lang="en-US" altLang="ko-KR" dirty="0"/>
            </a:br>
            <a:r>
              <a:rPr lang="en-US" altLang="ko-KR" dirty="0"/>
              <a:t>2.</a:t>
            </a:r>
            <a:r>
              <a:rPr lang="ko-KR" altLang="en-US" dirty="0"/>
              <a:t>  우리는 공부보다 </a:t>
            </a:r>
            <a:r>
              <a:rPr lang="en-US" altLang="ko-KR" dirty="0"/>
              <a:t>‘</a:t>
            </a:r>
            <a:r>
              <a:rPr lang="ko-KR" altLang="en-US" dirty="0"/>
              <a:t>정리</a:t>
            </a:r>
            <a:r>
              <a:rPr lang="en-US" altLang="ko-KR" dirty="0"/>
              <a:t>’</a:t>
            </a:r>
            <a:r>
              <a:rPr lang="ko-KR" altLang="en-US" dirty="0" err="1"/>
              <a:t>에</a:t>
            </a:r>
            <a:r>
              <a:rPr lang="ko-KR" altLang="en-US" dirty="0"/>
              <a:t> 너무 많은 시간을 쓰고 있습니다</a:t>
            </a:r>
            <a:r>
              <a:rPr lang="en-US" altLang="ko-KR" dirty="0"/>
              <a:t>.</a:t>
            </a:r>
            <a:endParaRPr lang="en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91E5D-F2CB-0EF9-104C-7CF380B61274}"/>
              </a:ext>
            </a:extLst>
          </p:cNvPr>
          <p:cNvSpPr txBox="1"/>
          <p:nvPr/>
        </p:nvSpPr>
        <p:spPr>
          <a:xfrm>
            <a:off x="112950" y="2286000"/>
            <a:ext cx="189346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학생이 가진 것</a:t>
            </a:r>
            <a:endParaRPr lang="en-US" altLang="ko-KR" dirty="0"/>
          </a:p>
          <a:p>
            <a:r>
              <a:rPr lang="ko-KR" altLang="en-US" dirty="0"/>
              <a:t>강의자료</a:t>
            </a:r>
            <a:endParaRPr lang="en-US" altLang="ko-KR" dirty="0"/>
          </a:p>
          <a:p>
            <a:r>
              <a:rPr lang="ko-KR" altLang="en-US" dirty="0" err="1"/>
              <a:t>녹음본</a:t>
            </a:r>
            <a:endParaRPr lang="en-US" altLang="ko-KR" dirty="0"/>
          </a:p>
          <a:p>
            <a:r>
              <a:rPr lang="ko-KR" altLang="en-US" dirty="0"/>
              <a:t>직접 필기한 노트</a:t>
            </a:r>
            <a:endParaRPr lang="en-US" altLang="ko-KR" dirty="0"/>
          </a:p>
          <a:p>
            <a:r>
              <a:rPr lang="ko-KR" altLang="en-US" dirty="0"/>
              <a:t>기출문제</a:t>
            </a:r>
            <a:endParaRPr lang="en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E857F0-A53B-F095-B53D-B0A98EB68DE9}"/>
              </a:ext>
            </a:extLst>
          </p:cNvPr>
          <p:cNvSpPr txBox="1"/>
          <p:nvPr/>
        </p:nvSpPr>
        <p:spPr>
          <a:xfrm>
            <a:off x="4628927" y="2119405"/>
            <a:ext cx="77219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공부할 때 현실</a:t>
            </a:r>
            <a:endParaRPr lang="en-US" altLang="ko-KR" dirty="0"/>
          </a:p>
          <a:p>
            <a:r>
              <a:rPr lang="en-US" altLang="ko-KR" dirty="0"/>
              <a:t>“</a:t>
            </a:r>
            <a:r>
              <a:rPr lang="ko-KR" altLang="en-US" dirty="0"/>
              <a:t>수업을 놓치긴 했는데 어느 시간에 녹음본을 하나하나 다 돌려봐</a:t>
            </a:r>
            <a:r>
              <a:rPr lang="en-US" altLang="ko-KR" dirty="0"/>
              <a:t>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강의록을 하루라도 늦게 펼치면 필기 내용이 이해가 안돼</a:t>
            </a:r>
            <a:r>
              <a:rPr lang="en-US" altLang="ko-KR" dirty="0"/>
              <a:t>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그냥 이정도는 놓치고 넘어가지 뭐</a:t>
            </a:r>
            <a:r>
              <a:rPr lang="en-US" altLang="ko-KR" dirty="0"/>
              <a:t>..</a:t>
            </a:r>
            <a:r>
              <a:rPr lang="ko-KR" altLang="en-US" dirty="0"/>
              <a:t> 🙄</a:t>
            </a:r>
            <a:r>
              <a:rPr lang="en-US" altLang="ko-KR" dirty="0"/>
              <a:t>”</a:t>
            </a:r>
          </a:p>
          <a:p>
            <a:endParaRPr lang="en-US" dirty="0"/>
          </a:p>
          <a:p>
            <a:r>
              <a:rPr lang="en-US" altLang="ko-KR" dirty="0"/>
              <a:t>1</a:t>
            </a:r>
            <a:r>
              <a:rPr lang="ko-KR" altLang="en-US" dirty="0"/>
              <a:t>시간 강의를 복습하기 위해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학생들은 또 다른 </a:t>
            </a:r>
            <a:r>
              <a:rPr lang="en-US" altLang="ko-KR" dirty="0"/>
              <a:t>1</a:t>
            </a:r>
            <a:r>
              <a:rPr lang="ko-KR" altLang="en-US" dirty="0"/>
              <a:t>시간은 정리에</a:t>
            </a:r>
            <a:r>
              <a:rPr lang="en-US" altLang="ko-KR" dirty="0"/>
              <a:t>,</a:t>
            </a:r>
            <a:r>
              <a:rPr lang="ko-KR" altLang="en-US" dirty="0"/>
              <a:t>  그러고 </a:t>
            </a:r>
            <a:r>
              <a:rPr lang="en-US" altLang="ko-KR" dirty="0"/>
              <a:t>1</a:t>
            </a:r>
            <a:r>
              <a:rPr lang="ko-KR" altLang="en-US" dirty="0"/>
              <a:t>시간은 복습에 사용해야 합니다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495BC-32A2-5C05-10E2-3FCA2EF6E31F}"/>
              </a:ext>
            </a:extLst>
          </p:cNvPr>
          <p:cNvSpPr txBox="1"/>
          <p:nvPr/>
        </p:nvSpPr>
        <p:spPr>
          <a:xfrm>
            <a:off x="838200" y="4538133"/>
            <a:ext cx="83359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설문조사 예시</a:t>
            </a:r>
            <a:endParaRPr lang="en-US" altLang="ko-KR" dirty="0"/>
          </a:p>
          <a:p>
            <a:r>
              <a:rPr lang="en-US" altLang="ko-KR" dirty="0"/>
              <a:t>“</a:t>
            </a:r>
            <a:r>
              <a:rPr lang="ko-KR" altLang="en-US" dirty="0"/>
              <a:t>녹음본을 다시 스크립트로 바꿔도 오타가 많아서 </a:t>
            </a:r>
            <a:r>
              <a:rPr lang="en-US" altLang="ko-KR" dirty="0"/>
              <a:t>ai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err="1"/>
              <a:t>돌려야하는</a:t>
            </a:r>
            <a:r>
              <a:rPr lang="ko-KR" altLang="en-US" dirty="0"/>
              <a:t> 번거로움</a:t>
            </a:r>
            <a:r>
              <a:rPr lang="en-US" altLang="ko-KR" dirty="0"/>
              <a:t>”</a:t>
            </a:r>
          </a:p>
          <a:p>
            <a:r>
              <a:rPr lang="en-US" altLang="ko-KR" dirty="0"/>
              <a:t>“ai</a:t>
            </a:r>
            <a:r>
              <a:rPr lang="ko-KR" altLang="en-US" dirty="0" err="1"/>
              <a:t>에</a:t>
            </a:r>
            <a:r>
              <a:rPr lang="ko-KR" altLang="en-US" dirty="0"/>
              <a:t> 의존하다가 강의 중 교수님 설명과 안 맞는 부분이 있을 것 같아 걱정된다</a:t>
            </a:r>
            <a:r>
              <a:rPr lang="en-US" altLang="ko-KR" dirty="0"/>
              <a:t>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녹음본을 보고 옮기는 데 </a:t>
            </a:r>
            <a:r>
              <a:rPr lang="en-US" altLang="ko-KR" dirty="0"/>
              <a:t>1</a:t>
            </a:r>
            <a:r>
              <a:rPr lang="ko-KR" altLang="en-US" dirty="0"/>
              <a:t>시간</a:t>
            </a:r>
            <a:r>
              <a:rPr lang="en-US" altLang="ko-KR" dirty="0"/>
              <a:t>,</a:t>
            </a:r>
            <a:r>
              <a:rPr lang="ko-KR" altLang="en-US" dirty="0"/>
              <a:t> 정리하는 데 </a:t>
            </a:r>
            <a:r>
              <a:rPr lang="en-US" altLang="ko-KR" dirty="0"/>
              <a:t>1</a:t>
            </a:r>
            <a:r>
              <a:rPr lang="ko-KR" altLang="en-US" dirty="0"/>
              <a:t>시간</a:t>
            </a:r>
            <a:r>
              <a:rPr lang="en-US" altLang="ko-KR" dirty="0"/>
              <a:t>,</a:t>
            </a:r>
            <a:r>
              <a:rPr lang="ko-KR" altLang="en-US" dirty="0"/>
              <a:t> 복습하는 데 </a:t>
            </a:r>
            <a:r>
              <a:rPr lang="en-US" altLang="ko-KR" dirty="0"/>
              <a:t>1</a:t>
            </a:r>
            <a:r>
              <a:rPr lang="ko-KR" altLang="en-US" dirty="0"/>
              <a:t>시간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r>
              <a:rPr lang="en-US" altLang="ko-KR" dirty="0"/>
              <a:t>”</a:t>
            </a:r>
          </a:p>
          <a:p>
            <a:endParaRPr lang="en-US" dirty="0"/>
          </a:p>
          <a:p>
            <a:r>
              <a:rPr lang="ko-KR" altLang="en-US" dirty="0"/>
              <a:t>문제는 </a:t>
            </a:r>
            <a:r>
              <a:rPr lang="en-US" altLang="ko-KR" dirty="0"/>
              <a:t>‘</a:t>
            </a:r>
            <a:r>
              <a:rPr lang="ko-KR" altLang="en-US" dirty="0"/>
              <a:t>자료가 부족한 것</a:t>
            </a:r>
            <a:r>
              <a:rPr lang="en-US" altLang="ko-KR" dirty="0"/>
              <a:t>’</a:t>
            </a:r>
            <a:r>
              <a:rPr lang="ko-KR" altLang="en-US" dirty="0"/>
              <a:t>이 아닙니다</a:t>
            </a:r>
            <a:r>
              <a:rPr lang="en-US" altLang="ko-KR" dirty="0"/>
              <a:t>.</a:t>
            </a:r>
            <a:r>
              <a:rPr lang="ko-KR" altLang="en-US" dirty="0"/>
              <a:t> 자료는 이미 많습니다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중요한 것은 </a:t>
            </a:r>
            <a:r>
              <a:rPr lang="en-US" altLang="ko-KR" dirty="0"/>
              <a:t>‘</a:t>
            </a:r>
            <a:r>
              <a:rPr lang="ko-KR" altLang="en-US" dirty="0"/>
              <a:t>필요한 자료를 한 번에</a:t>
            </a:r>
            <a:r>
              <a:rPr lang="en-US" altLang="ko-KR" dirty="0"/>
              <a:t>’</a:t>
            </a:r>
            <a:r>
              <a:rPr lang="ko-KR" altLang="en-US" dirty="0"/>
              <a:t> 보면서 시간을 아끼는 것입니다</a:t>
            </a:r>
            <a:r>
              <a:rPr lang="en-US" altLang="ko-KR" dirty="0"/>
              <a:t>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DE8BCB-95B1-8511-0EEA-9F6FD76695FC}"/>
              </a:ext>
            </a:extLst>
          </p:cNvPr>
          <p:cNvSpPr/>
          <p:nvPr/>
        </p:nvSpPr>
        <p:spPr>
          <a:xfrm>
            <a:off x="3324151" y="2234141"/>
            <a:ext cx="1151466" cy="1143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4580FB8-5557-ECC7-9816-2F6C117F6CB0}"/>
              </a:ext>
            </a:extLst>
          </p:cNvPr>
          <p:cNvSpPr/>
          <p:nvPr/>
        </p:nvSpPr>
        <p:spPr>
          <a:xfrm>
            <a:off x="2582150" y="2216150"/>
            <a:ext cx="1151466" cy="1143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022331-3EC9-E3EC-D968-75BC9A71B662}"/>
              </a:ext>
            </a:extLst>
          </p:cNvPr>
          <p:cNvSpPr/>
          <p:nvPr/>
        </p:nvSpPr>
        <p:spPr>
          <a:xfrm>
            <a:off x="2550616" y="2823632"/>
            <a:ext cx="1151466" cy="1143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746969-D273-18CE-35F5-52E87D47E529}"/>
              </a:ext>
            </a:extLst>
          </p:cNvPr>
          <p:cNvSpPr/>
          <p:nvPr/>
        </p:nvSpPr>
        <p:spPr>
          <a:xfrm>
            <a:off x="3324151" y="2805641"/>
            <a:ext cx="1151466" cy="1143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058456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7DDA-1CA0-A265-8A1F-6BDB2B76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주요 사용자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C96B4-4012-C33D-773D-3650433E8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수업 내용의 밀도가 높고 암기량이 많은 대학생</a:t>
            </a:r>
            <a:endParaRPr lang="en-US" altLang="ko-KR" dirty="0"/>
          </a:p>
          <a:p>
            <a:r>
              <a:rPr lang="ko-KR" altLang="en-US" dirty="0"/>
              <a:t>강의록이 차트 위주인 공대생</a:t>
            </a:r>
            <a:endParaRPr lang="en-US" altLang="ko-KR" dirty="0"/>
          </a:p>
          <a:p>
            <a:r>
              <a:rPr lang="ko-KR" altLang="en-US" dirty="0"/>
              <a:t>의대생</a:t>
            </a:r>
            <a:r>
              <a:rPr lang="en-US" altLang="ko-KR" dirty="0"/>
              <a:t>,</a:t>
            </a:r>
            <a:r>
              <a:rPr lang="ko-KR" altLang="en-US" dirty="0"/>
              <a:t> 로스쿨</a:t>
            </a:r>
            <a:endParaRPr lang="en-US" altLang="ko-KR" dirty="0"/>
          </a:p>
          <a:p>
            <a:r>
              <a:rPr lang="ko-KR" altLang="en-US" dirty="0"/>
              <a:t>이외에 수업내용을 </a:t>
            </a:r>
            <a:r>
              <a:rPr lang="en-US" altLang="ko-KR" dirty="0"/>
              <a:t>‘</a:t>
            </a:r>
            <a:r>
              <a:rPr lang="ko-KR" altLang="en-US" dirty="0"/>
              <a:t>놓치고 싶지 않은</a:t>
            </a:r>
            <a:r>
              <a:rPr lang="en-US" altLang="ko-KR" dirty="0"/>
              <a:t>’</a:t>
            </a:r>
            <a:r>
              <a:rPr lang="ko-KR" altLang="en-US" dirty="0"/>
              <a:t> 대학생</a:t>
            </a:r>
            <a:r>
              <a:rPr lang="en-US" altLang="ko-KR" dirty="0"/>
              <a:t>,</a:t>
            </a:r>
            <a:r>
              <a:rPr lang="ko-KR" altLang="en-US" dirty="0"/>
              <a:t> 강의 내용을 </a:t>
            </a:r>
            <a:r>
              <a:rPr lang="en-US" altLang="ko-KR" dirty="0"/>
              <a:t>‘</a:t>
            </a:r>
            <a:r>
              <a:rPr lang="ko-KR" altLang="en-US" dirty="0"/>
              <a:t>한 번에</a:t>
            </a:r>
            <a:r>
              <a:rPr lang="en-US" altLang="ko-KR" dirty="0"/>
              <a:t>’</a:t>
            </a:r>
            <a:r>
              <a:rPr lang="ko-KR" altLang="en-US" dirty="0"/>
              <a:t> 정리하고 싶은 대학생</a:t>
            </a:r>
            <a:r>
              <a:rPr lang="en-US" altLang="ko-KR" dirty="0"/>
              <a:t>,</a:t>
            </a:r>
            <a:r>
              <a:rPr lang="ko-KR" altLang="en-US" dirty="0"/>
              <a:t> 시간을 절약하고 싶은 대학생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3745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AA74-9AC1-9FB3-26CA-1E9BE16A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기존 방식의 한계</a:t>
            </a:r>
            <a:endParaRPr lang="en-KR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CE27E78-C78D-EA4C-9203-D5EF3A162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848629"/>
              </p:ext>
            </p:extLst>
          </p:nvPr>
        </p:nvGraphicFramePr>
        <p:xfrm>
          <a:off x="2978150" y="1416114"/>
          <a:ext cx="2362200" cy="764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1539448060"/>
                    </a:ext>
                  </a:extLst>
                </a:gridCol>
              </a:tblGrid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KR" dirty="0"/>
                        <a:t>otebook LM</a:t>
                      </a:r>
                    </a:p>
                  </a:txBody>
                  <a:tcPr anchor="ctr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77751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가능</a:t>
                      </a:r>
                      <a:endParaRPr lang="en-US" altLang="ko-KR" dirty="0"/>
                    </a:p>
                    <a:p>
                      <a:pPr algn="ctr"/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 수업 녹음 </a:t>
                      </a:r>
                      <a:r>
                        <a:rPr lang="en-US" altLang="ko-KR" dirty="0"/>
                        <a:t>-&gt;</a:t>
                      </a:r>
                      <a:r>
                        <a:rPr lang="ko-KR" altLang="en-US" dirty="0"/>
                        <a:t> 스크립트 변환</a:t>
                      </a:r>
                      <a:endParaRPr lang="en-US" altLang="ko-KR" dirty="0"/>
                    </a:p>
                    <a:p>
                      <a:pPr algn="ctr"/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 빈칸 퀴즈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예상문제 제공</a:t>
                      </a:r>
                      <a:endParaRPr lang="en-KR" dirty="0"/>
                    </a:p>
                  </a:txBody>
                  <a:tcPr anchor="ctr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560993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불편</a:t>
                      </a:r>
                      <a:endParaRPr lang="en-US" altLang="ko-KR" dirty="0"/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ko-KR" altLang="en-US" dirty="0"/>
                        <a:t>스크립트가 정확하지 않아 사용자가 강의록 기반으로 오타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용어를 교정하는 후처리과정 필요</a:t>
                      </a:r>
                      <a:endParaRPr lang="en-US" altLang="ko-KR" dirty="0"/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ko-KR" altLang="en-US" dirty="0"/>
                        <a:t>사람이 직접 </a:t>
                      </a:r>
                      <a:r>
                        <a:rPr lang="en-US" altLang="ko-KR" dirty="0"/>
                        <a:t>chat</a:t>
                      </a:r>
                      <a:r>
                        <a:rPr lang="ko-KR" altLang="en-US" dirty="0" err="1"/>
                        <a:t>에</a:t>
                      </a:r>
                      <a:r>
                        <a:rPr lang="ko-KR" altLang="en-US" dirty="0"/>
                        <a:t> 개입해서 </a:t>
                      </a:r>
                      <a:r>
                        <a:rPr lang="ko-KR" altLang="en-US" dirty="0" err="1"/>
                        <a:t>물어봐야하는</a:t>
                      </a:r>
                      <a:r>
                        <a:rPr lang="ko-KR" altLang="en-US" dirty="0"/>
                        <a:t> 구조라 번거로움이 있음</a:t>
                      </a:r>
                      <a:endParaRPr lang="en-KR" dirty="0"/>
                    </a:p>
                  </a:txBody>
                  <a:tcPr anchor="ctr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433611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endParaRPr lang="en-US" altLang="ko-KR" dirty="0"/>
                    </a:p>
                  </a:txBody>
                  <a:tcPr anchor="ctr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153142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endParaRPr lang="en-KR" dirty="0"/>
                    </a:p>
                  </a:txBody>
                  <a:tcPr anchor="ctr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030771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D008DA4E-5E9F-D63E-CD21-4F1969FB7F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705955"/>
              </p:ext>
            </p:extLst>
          </p:nvPr>
        </p:nvGraphicFramePr>
        <p:xfrm>
          <a:off x="5505450" y="1327680"/>
          <a:ext cx="2362200" cy="5173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1539448060"/>
                    </a:ext>
                  </a:extLst>
                </a:gridCol>
              </a:tblGrid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/>
                        <a:t>노타빌리티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77751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강의록 페이지마다 해당 내용의 녹음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스크립트 제공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0560993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스크립트가 정확하지 않음</a:t>
                      </a:r>
                      <a:endParaRPr lang="en-US" altLang="ko-KR" dirty="0"/>
                    </a:p>
                    <a:p>
                      <a:pPr algn="ctr"/>
                      <a:r>
                        <a:rPr lang="ko-KR" altLang="en-US" dirty="0"/>
                        <a:t>역시 필기를 놓친 구간에서 사용자가 스크립트를 </a:t>
                      </a:r>
                      <a:r>
                        <a:rPr lang="ko-KR" altLang="en-US" dirty="0" err="1"/>
                        <a:t>후처리해야하는</a:t>
                      </a:r>
                      <a:r>
                        <a:rPr lang="ko-KR" altLang="en-US" dirty="0"/>
                        <a:t> 불편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433611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endParaRPr lang="en-K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153142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030771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E806B82D-368C-344C-0F2E-0D8FEF37B3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1760026"/>
              </p:ext>
            </p:extLst>
          </p:nvPr>
        </p:nvGraphicFramePr>
        <p:xfrm>
          <a:off x="8032750" y="1014149"/>
          <a:ext cx="2362200" cy="8356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1539448060"/>
                    </a:ext>
                  </a:extLst>
                </a:gridCol>
              </a:tblGrid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1Q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77751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사용자가 우선순위에 혼란을 겪지 않도록 한 번에 제시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0560993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빠지는 내용이 없어서 신뢰할 수 있음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7433611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가독성이 좋은 스크립트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강의내용이 페이지에 </a:t>
                      </a:r>
                      <a:r>
                        <a:rPr lang="ko-KR" altLang="en-US" dirty="0" err="1"/>
                        <a:t>정리되어있어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강이ㅡ록을</a:t>
                      </a:r>
                      <a:r>
                        <a:rPr lang="ko-KR" altLang="en-US" dirty="0"/>
                        <a:t> 이해하면서 따라가기 좋음</a:t>
                      </a:r>
                      <a:r>
                        <a:rPr lang="en-US" altLang="ko-KR" dirty="0"/>
                        <a:t>.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3153142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퀴즈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요약본까지 제시해주어 사용자가 다른 </a:t>
                      </a:r>
                      <a:r>
                        <a:rPr lang="en-US" altLang="ko-KR" dirty="0"/>
                        <a:t>ai</a:t>
                      </a:r>
                      <a:r>
                        <a:rPr lang="ko-KR" altLang="en-US" dirty="0" err="1"/>
                        <a:t>를</a:t>
                      </a:r>
                      <a:r>
                        <a:rPr lang="ko-KR" altLang="en-US" dirty="0"/>
                        <a:t> 쓸 필요가 없음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030771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포지셔닝</a:t>
                      </a:r>
                      <a:r>
                        <a:rPr lang="en-US" altLang="ko-KR" dirty="0"/>
                        <a:t>:</a:t>
                      </a:r>
                      <a:r>
                        <a:rPr lang="ko-KR" altLang="en-US" dirty="0"/>
                        <a:t> 비용구조가 단순한 </a:t>
                      </a:r>
                      <a:endParaRPr lang="en-US" altLang="ko-KR" dirty="0"/>
                    </a:p>
                    <a:p>
                      <a:pPr algn="ctr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구체적인 문제를 해결하고 싶을 때</a:t>
                      </a:r>
                      <a:r>
                        <a:rPr lang="en-US" altLang="ko-KR" dirty="0"/>
                        <a:t>”</a:t>
                      </a:r>
                    </a:p>
                    <a:p>
                      <a:pPr algn="ctr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시험에 나올 수 있는 것들을 모두 알고 싶을 때</a:t>
                      </a:r>
                      <a:r>
                        <a:rPr lang="en-US" altLang="ko-KR" dirty="0"/>
                        <a:t>”</a:t>
                      </a:r>
                    </a:p>
                    <a:p>
                      <a:pPr algn="ctr"/>
                      <a:r>
                        <a:rPr lang="en-US" altLang="ko-KR" dirty="0"/>
                        <a:t>“</a:t>
                      </a:r>
                      <a:r>
                        <a:rPr lang="ko-KR" altLang="en-US" dirty="0"/>
                        <a:t>강의를 집에서도 느끼고 싶을 때</a:t>
                      </a:r>
                      <a:r>
                        <a:rPr lang="en-US" altLang="ko-KR" dirty="0"/>
                        <a:t>”</a:t>
                      </a:r>
                      <a:endParaRPr lang="en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587416"/>
                  </a:ext>
                </a:extLst>
              </a:tr>
            </a:tbl>
          </a:graphicData>
        </a:graphic>
      </p:graphicFrame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F8A29B1-80ED-9AEF-115A-F5E4C6E9C2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3269534"/>
              </p:ext>
            </p:extLst>
          </p:nvPr>
        </p:nvGraphicFramePr>
        <p:xfrm>
          <a:off x="450850" y="1416114"/>
          <a:ext cx="2362200" cy="6270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1539448060"/>
                    </a:ext>
                  </a:extLst>
                </a:gridCol>
              </a:tblGrid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요즘 학생들은</a:t>
                      </a:r>
                      <a:r>
                        <a:rPr lang="en-US" altLang="ko-KR" dirty="0"/>
                        <a:t>..?</a:t>
                      </a:r>
                      <a:r>
                        <a:rPr lang="ko-KR" altLang="en-US" dirty="0"/>
                        <a:t> 🤷🏻‍♀️</a:t>
                      </a:r>
                      <a:endParaRPr lang="en-KR" dirty="0"/>
                    </a:p>
                  </a:txBody>
                  <a:tcPr anchor="ctr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77751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수업 듣다 놓치거나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필기 내용을 알아보지 못할 때</a:t>
                      </a:r>
                      <a:endParaRPr lang="en-US" altLang="ko-KR" dirty="0"/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ko-KR" altLang="en-US" dirty="0"/>
                        <a:t>귀찮아서 내버려둔다</a:t>
                      </a:r>
                      <a:endParaRPr lang="en-US" altLang="ko-KR" dirty="0"/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ko-KR" altLang="en-US" dirty="0"/>
                        <a:t>녹음본을 다시 듣거나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클로바노트에</a:t>
                      </a:r>
                      <a:r>
                        <a:rPr lang="ko-KR" altLang="en-US" dirty="0"/>
                        <a:t> 돌려서 스크립트를 얻어서 찾음</a:t>
                      </a:r>
                      <a:endParaRPr lang="en-KR" dirty="0"/>
                    </a:p>
                  </a:txBody>
                  <a:tcPr anchor="ctr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560993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불편</a:t>
                      </a:r>
                      <a:endParaRPr lang="en-US" altLang="ko-KR" dirty="0"/>
                    </a:p>
                    <a:p>
                      <a:pPr marL="285750" indent="-285750" algn="ctr">
                        <a:buFontTx/>
                        <a:buChar char="-"/>
                      </a:pPr>
                      <a:r>
                        <a:rPr lang="ko-KR" altLang="en-US" dirty="0"/>
                        <a:t>강의 외의 시간에 오래 걸린다</a:t>
                      </a:r>
                      <a:endParaRPr lang="en-KR" dirty="0"/>
                    </a:p>
                  </a:txBody>
                  <a:tcPr anchor="ctr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433611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endParaRPr lang="en-US" altLang="ko-KR" dirty="0"/>
                    </a:p>
                  </a:txBody>
                  <a:tcPr anchor="ctr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153142"/>
                  </a:ext>
                </a:extLst>
              </a:tr>
              <a:tr h="840528">
                <a:tc>
                  <a:txBody>
                    <a:bodyPr/>
                    <a:lstStyle/>
                    <a:p>
                      <a:pPr algn="ctr"/>
                      <a:endParaRPr lang="en-KR" dirty="0"/>
                    </a:p>
                  </a:txBody>
                  <a:tcPr anchor="ctr">
                    <a:solidFill>
                      <a:srgbClr val="76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030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955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25B21-BFB1-9E76-0765-99FEA60C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67" y="322262"/>
            <a:ext cx="11557000" cy="132556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해결방식</a:t>
            </a:r>
            <a:br>
              <a:rPr lang="en-US" altLang="ko-KR" dirty="0"/>
            </a:br>
            <a:r>
              <a:rPr lang="en-US" altLang="ko-KR" dirty="0"/>
              <a:t>1Q</a:t>
            </a:r>
            <a:r>
              <a:rPr lang="ko-KR" altLang="en-US" dirty="0"/>
              <a:t>가 강의 시작부터 끝까지 한 파일로 해결해줍니다</a:t>
            </a:r>
            <a:r>
              <a:rPr lang="en-US" altLang="ko-KR" dirty="0"/>
              <a:t>.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C9177-6316-D82F-6A5B-1F3B1DAFE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Flow</a:t>
            </a:r>
            <a:r>
              <a:rPr lang="ko-KR" altLang="en-US" dirty="0"/>
              <a:t> </a:t>
            </a:r>
            <a:r>
              <a:rPr lang="en-US" altLang="ko-KR" dirty="0"/>
              <a:t>chart</a:t>
            </a:r>
            <a:endParaRPr lang="en-KR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C321FEE-8273-C67F-3343-0286719FC77D}"/>
              </a:ext>
            </a:extLst>
          </p:cNvPr>
          <p:cNvSpPr/>
          <p:nvPr/>
        </p:nvSpPr>
        <p:spPr>
          <a:xfrm>
            <a:off x="351367" y="2455333"/>
            <a:ext cx="2082800" cy="248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559497-0976-525F-6FA1-F93178C24187}"/>
              </a:ext>
            </a:extLst>
          </p:cNvPr>
          <p:cNvSpPr/>
          <p:nvPr/>
        </p:nvSpPr>
        <p:spPr>
          <a:xfrm>
            <a:off x="2709334" y="2455333"/>
            <a:ext cx="2082800" cy="248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30FE67-EF71-7BDB-D46B-6CEA869391A0}"/>
              </a:ext>
            </a:extLst>
          </p:cNvPr>
          <p:cNvSpPr/>
          <p:nvPr/>
        </p:nvSpPr>
        <p:spPr>
          <a:xfrm>
            <a:off x="5073650" y="2455333"/>
            <a:ext cx="2082800" cy="248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D037A4-24AD-4A33-2587-BA0BEFC46453}"/>
              </a:ext>
            </a:extLst>
          </p:cNvPr>
          <p:cNvSpPr/>
          <p:nvPr/>
        </p:nvSpPr>
        <p:spPr>
          <a:xfrm>
            <a:off x="7399866" y="2455333"/>
            <a:ext cx="2082800" cy="248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6FBB2AE-7D84-8531-BDD0-DD9F9423E4E1}"/>
              </a:ext>
            </a:extLst>
          </p:cNvPr>
          <p:cNvSpPr/>
          <p:nvPr/>
        </p:nvSpPr>
        <p:spPr>
          <a:xfrm>
            <a:off x="9757833" y="2455333"/>
            <a:ext cx="2082800" cy="2489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080EE-7E7E-ECAB-CDEB-E047BD87F484}"/>
              </a:ext>
            </a:extLst>
          </p:cNvPr>
          <p:cNvSpPr txBox="1"/>
          <p:nvPr/>
        </p:nvSpPr>
        <p:spPr>
          <a:xfrm>
            <a:off x="524933" y="5300133"/>
            <a:ext cx="14472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1.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업로드                         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2.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STT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변환                  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3.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페이지 매칭                    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4.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스크립트                   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5.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퀴즈 </a:t>
            </a:r>
            <a:b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                                                                                                                                                      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요약노트 생성                        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최종 요약본</a:t>
            </a:r>
            <a:endParaRPr lang="en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17D691-3C9E-5A80-2262-DBC65EAB2652}"/>
              </a:ext>
            </a:extLst>
          </p:cNvPr>
          <p:cNvSpPr txBox="1"/>
          <p:nvPr/>
        </p:nvSpPr>
        <p:spPr>
          <a:xfrm>
            <a:off x="524933" y="5754599"/>
            <a:ext cx="1756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강의자료와 녹음본만 업로드하면</a:t>
            </a: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endParaRPr lang="en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0755B0-DB30-6D02-645D-CC831C8D50CE}"/>
              </a:ext>
            </a:extLst>
          </p:cNvPr>
          <p:cNvSpPr txBox="1"/>
          <p:nvPr/>
        </p:nvSpPr>
        <p:spPr>
          <a:xfrm>
            <a:off x="2434167" y="5754598"/>
            <a:ext cx="26310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녹음본을 텍스트로 변환</a:t>
            </a: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강의록 기반으로 오타 교정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</a:p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전문용어 교정</a:t>
            </a:r>
            <a:endParaRPr lang="en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ED721A-C29A-D612-D330-B1EECFF79C4C}"/>
              </a:ext>
            </a:extLst>
          </p:cNvPr>
          <p:cNvSpPr txBox="1"/>
          <p:nvPr/>
        </p:nvSpPr>
        <p:spPr>
          <a:xfrm>
            <a:off x="5308600" y="5738634"/>
            <a:ext cx="22182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내용은 해당하는 페이지 별로 구분해 강의록 위에 자동 매칭</a:t>
            </a:r>
            <a:endParaRPr lang="en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79AC5D-562F-DFE1-886F-47B1B0E0AFCF}"/>
              </a:ext>
            </a:extLst>
          </p:cNvPr>
          <p:cNvSpPr txBox="1"/>
          <p:nvPr/>
        </p:nvSpPr>
        <p:spPr>
          <a:xfrm>
            <a:off x="7526867" y="5901145"/>
            <a:ext cx="2218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스크립트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&amp;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페이지 요약 노트를 생성해 강의록과 함께 제공</a:t>
            </a:r>
            <a:endParaRPr lang="en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585C86-7BD1-ED6F-D96D-DB9D393394BF}"/>
              </a:ext>
            </a:extLst>
          </p:cNvPr>
          <p:cNvSpPr txBox="1"/>
          <p:nvPr/>
        </p:nvSpPr>
        <p:spPr>
          <a:xfrm>
            <a:off x="9956800" y="5969047"/>
            <a:ext cx="23567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강의록 위의 퀴즈 </a:t>
            </a:r>
            <a:endParaRPr lang="en-US" altLang="ko-KR" dirty="0"/>
          </a:p>
          <a:p>
            <a:r>
              <a:rPr lang="en-US" altLang="ko-KR" dirty="0"/>
              <a:t>+</a:t>
            </a:r>
            <a:r>
              <a:rPr lang="ko-KR" altLang="en-US" dirty="0"/>
              <a:t> 최종 </a:t>
            </a:r>
            <a:r>
              <a:rPr lang="en-US" altLang="ko-KR" dirty="0"/>
              <a:t>10</a:t>
            </a:r>
            <a:r>
              <a:rPr lang="ko-KR" altLang="en-US" dirty="0"/>
              <a:t>분 요약 노트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3419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17B1-B469-71DC-BC41-B3DC029B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</a:t>
            </a:r>
            <a:r>
              <a:rPr lang="ko-KR" altLang="en-US" dirty="0"/>
              <a:t> </a:t>
            </a:r>
            <a:r>
              <a:rPr lang="en-US" dirty="0"/>
              <a:t>MVP</a:t>
            </a:r>
            <a:r>
              <a:rPr lang="ko-KR" altLang="en-US" dirty="0"/>
              <a:t> 소개 및 시연 흐름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FEF1-9FD9-AD89-23CD-05BE97605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649500-564D-DCEE-625B-CB0935E7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26" y="1939235"/>
            <a:ext cx="52832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038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6E24-5195-DFCF-A4A7-ACF69583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</a:t>
            </a:r>
            <a:r>
              <a:rPr lang="ko-KR" altLang="en-US" dirty="0"/>
              <a:t> 사용자 검증 또는 피드백</a:t>
            </a:r>
            <a:br>
              <a:rPr lang="en-US" altLang="ko-KR" dirty="0"/>
            </a:br>
            <a:r>
              <a:rPr lang="en-US" altLang="ko-KR" dirty="0"/>
              <a:t>:</a:t>
            </a:r>
            <a:r>
              <a:rPr lang="ko-KR" altLang="en-US" dirty="0"/>
              <a:t> 주변 반응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1BAA3-070B-0962-417C-3317C696F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평소에 실제로 쓸 것 같은 서비스</a:t>
            </a:r>
            <a:r>
              <a:rPr lang="en-US" altLang="ko-KR" dirty="0"/>
              <a:t>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필기 정리 안 해도 되겠다</a:t>
            </a:r>
            <a:r>
              <a:rPr lang="en-US" altLang="ko-KR" dirty="0"/>
              <a:t>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한 번에 정리할 수 있는 서비스는 없었다</a:t>
            </a:r>
            <a:r>
              <a:rPr lang="en-US" altLang="ko-KR" dirty="0"/>
              <a:t>”</a:t>
            </a:r>
          </a:p>
          <a:p>
            <a:r>
              <a:rPr lang="en-US" altLang="ko-KR" dirty="0"/>
              <a:t>“</a:t>
            </a:r>
            <a:r>
              <a:rPr lang="ko-KR" altLang="en-US" dirty="0"/>
              <a:t>예뻐서 쓰고 싶어요</a:t>
            </a:r>
            <a:r>
              <a:rPr lang="en-US" altLang="ko-KR" dirty="0"/>
              <a:t>”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1121612770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8. 사용자 검증 ① 수요 — 필요성 &amp; 사용 규모 (N=44)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02920" y="1508760"/>
          <a:ext cx="539496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3949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맑은 고딕"/>
              </a:rPr>
              <a:t>평균 4.4/5 · 93%가 4점 이상 (필요성 매우 높음)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63640" y="1508760"/>
          <a:ext cx="5394960" cy="3794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63640" y="53949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95959"/>
                </a:solidFill>
                <a:latin typeface="맑은 고딕"/>
              </a:rPr>
              <a:t>중앙값 6개 · 최대 30개</a:t>
            </a:r>
          </a:p>
          <a:p>
            <a:pPr algn="l"/>
            <a:r>
              <a:rPr sz="1200" b="0">
                <a:solidFill>
                  <a:srgbClr val="1D9E75"/>
                </a:solidFill>
                <a:latin typeface="맑은 고딕"/>
              </a:rPr>
              <a:t>15개↑ 5명 = 수업 밀도 높은 전공(의약학 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설문 N=44 · 2026.7 · 대학생 대상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8. 사용자 검증 ② 월 사용 빈도 (Q10)</a:t>
            </a:r>
          </a:p>
        </p:txBody>
      </p:sp>
      <p:pic>
        <p:nvPicPr>
          <p:cNvPr id="3" name="Picture 2" descr="q10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881645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219456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1F3864"/>
                </a:solidFill>
                <a:latin typeface="맑은 고딕"/>
              </a:rPr>
              <a:t>89%</a:t>
            </a:r>
          </a:p>
          <a:p>
            <a:pPr algn="l"/>
            <a:r>
              <a:rPr sz="1600" b="1">
                <a:solidFill>
                  <a:srgbClr val="595959"/>
                </a:solidFill>
                <a:latin typeface="맑은 고딕"/>
              </a:rPr>
              <a:t>월 5회 이상 사용 의향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맑은 고딕"/>
              </a:rPr>
              <a:t>(39/44명)</a:t>
            </a:r>
          </a:p>
          <a:p>
            <a:pPr algn="l"/>
            <a:r>
              <a:rPr sz="800" b="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/>
            <a:r>
              <a:rPr sz="1300" b="1">
                <a:solidFill>
                  <a:srgbClr val="1D9E75"/>
                </a:solidFill>
                <a:latin typeface="맑은 고딕"/>
              </a:rPr>
              <a:t>최다 구간: 5-10회 16명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맑은 고딕"/>
              </a:rPr>
              <a:t>일회성 아닌 반복 사용 도구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설문 N=44 · 2026.7 · 대학생 대상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8. 사용자 검증 ③ 가격(지불의향) (Q11·Q12·Q13)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600200"/>
          <a:ext cx="3657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맑은 고딕"/>
              </a:rPr>
              <a:t>45% 무지출 · 55% 유료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261104" y="1600200"/>
          <a:ext cx="365760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61104" y="5029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</a:rPr>
              <a:t>중앙값·최빈값 10,000원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65008" y="1600200"/>
          <a:ext cx="3657600" cy="33832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65008" y="5029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9E75"/>
                </a:solidFill>
                <a:latin typeface="맑은 고딕"/>
              </a:rPr>
              <a:t>중앙값 3,000원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→ 적정 가격대 3,000 ~ 10,000원 · 55%는 이미 학습도구에 지불 중  →  월 1만원대 정액 구독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설문 N=44 · 2026.7 · 대학생 대상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9. 비즈니스 모델 (BM)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3474720" cy="265176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0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학생 구독</a:t>
            </a:r>
          </a:p>
          <a:p>
            <a:pPr algn="l"/>
            <a:r>
              <a:rPr sz="60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월 1만원대 정액제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00" b="1">
                <a:solidFill>
                  <a:srgbClr val="1D9E75"/>
                </a:solidFill>
                <a:latin typeface="맑은 고딕"/>
              </a:rPr>
              <a:t>B2C · 설문서 지지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91640"/>
            <a:ext cx="3474720" cy="265176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0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96596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학교 라이선스</a:t>
            </a:r>
          </a:p>
          <a:p>
            <a:pPr algn="l"/>
            <a:r>
              <a:rPr sz="60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대학·학과 단위 공급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00" b="1">
                <a:solidFill>
                  <a:srgbClr val="1D9E75"/>
                </a:solidFill>
                <a:latin typeface="맑은 고딕"/>
              </a:rPr>
              <a:t>B2B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91640"/>
            <a:ext cx="3474720" cy="265176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0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65960"/>
            <a:ext cx="2926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학원·인강</a:t>
            </a:r>
          </a:p>
          <a:p>
            <a:pPr algn="l"/>
            <a:r>
              <a:rPr sz="60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교육기관 대상 공급</a:t>
            </a:r>
          </a:p>
          <a:p>
            <a:pPr algn="l"/>
            <a:r>
              <a:rPr sz="400" b="0">
                <a:solidFill>
                  <a:srgbClr val="444444"/>
                </a:solidFill>
                <a:latin typeface="맑은 고딕"/>
              </a:rPr>
              <a:t/>
            </a:r>
          </a:p>
          <a:p>
            <a:pPr algn="l"/>
            <a:r>
              <a:rPr sz="1200" b="1">
                <a:solidFill>
                  <a:srgbClr val="1D9E75"/>
                </a:solidFill>
                <a:latin typeface="맑은 고딕"/>
              </a:rPr>
              <a:t>B2B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09160"/>
            <a:ext cx="10881360" cy="123444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28032"/>
            <a:ext cx="103327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맑은 고딕"/>
              </a:rPr>
              <a:t>아직 BM은 검증 전입니다.</a:t>
            </a:r>
          </a:p>
          <a:p>
            <a:pPr algn="l"/>
            <a:r>
              <a:rPr sz="1400" b="0">
                <a:solidFill>
                  <a:srgbClr val="444444"/>
                </a:solidFill>
                <a:latin typeface="맑은 고딕"/>
              </a:rPr>
              <a:t>지금은 '사용성'을 가장 먼저 검증하고 있습니다.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10. 현재까지 한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맑은 고딕"/>
              </a:rPr>
              <a:t>지금 어디까지 왔는지</a:t>
            </a:r>
          </a:p>
        </p:txBody>
      </p:sp>
      <p:sp>
        <p:nvSpPr>
          <p:cNvPr id="4" name="Oval 3"/>
          <p:cNvSpPr/>
          <p:nvPr/>
        </p:nvSpPr>
        <p:spPr>
          <a:xfrm>
            <a:off x="1554480" y="1965960"/>
            <a:ext cx="457200" cy="457200"/>
          </a:xfrm>
          <a:prstGeom prst="ellipse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93852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3864"/>
                </a:solidFill>
                <a:latin typeface="맑은 고딕"/>
              </a:rPr>
              <a:t>해커톤 우승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743200"/>
            <a:ext cx="457200" cy="457200"/>
          </a:xfrm>
          <a:prstGeom prst="ellipse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71576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44444"/>
                </a:solidFill>
                <a:latin typeface="맑은 고딕"/>
              </a:rPr>
              <a:t>MVP 제작</a:t>
            </a:r>
          </a:p>
        </p:txBody>
      </p:sp>
      <p:sp>
        <p:nvSpPr>
          <p:cNvPr id="8" name="Oval 7"/>
          <p:cNvSpPr/>
          <p:nvPr/>
        </p:nvSpPr>
        <p:spPr>
          <a:xfrm>
            <a:off x="1554480" y="3520440"/>
            <a:ext cx="457200" cy="457200"/>
          </a:xfrm>
          <a:prstGeom prst="ellipse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349300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44444"/>
                </a:solidFill>
                <a:latin typeface="맑은 고딕"/>
              </a:rPr>
              <a:t>디자인 완성</a:t>
            </a:r>
          </a:p>
        </p:txBody>
      </p:sp>
      <p:sp>
        <p:nvSpPr>
          <p:cNvPr id="10" name="Oval 9"/>
          <p:cNvSpPr/>
          <p:nvPr/>
        </p:nvSpPr>
        <p:spPr>
          <a:xfrm>
            <a:off x="1554480" y="4297680"/>
            <a:ext cx="457200" cy="457200"/>
          </a:xfrm>
          <a:prstGeom prst="ellipse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427024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44444"/>
                </a:solidFill>
                <a:latin typeface="맑은 고딕"/>
              </a:rPr>
              <a:t>개발 진행 중</a:t>
            </a:r>
          </a:p>
        </p:txBody>
      </p:sp>
      <p:sp>
        <p:nvSpPr>
          <p:cNvPr id="12" name="Oval 11"/>
          <p:cNvSpPr/>
          <p:nvPr/>
        </p:nvSpPr>
        <p:spPr>
          <a:xfrm>
            <a:off x="1554480" y="5074920"/>
            <a:ext cx="457200" cy="457200"/>
          </a:xfrm>
          <a:prstGeom prst="ellipse">
            <a:avLst/>
          </a:prstGeom>
          <a:solidFill>
            <a:srgbClr val="1D9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504748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44444"/>
                </a:solidFill>
                <a:latin typeface="맑은 고딕"/>
              </a:rPr>
              <a:t>멘토링 진행 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/>
              <a:t>11. 앞으로 검증할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D9E75"/>
                </a:solidFill>
                <a:latin typeface="맑은 고딕"/>
              </a:rPr>
              <a:t>이게 핵심 — 아직 답을 찾는 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257800" cy="18288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0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39" y="2194560"/>
            <a:ext cx="4023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맑은 고딕"/>
              </a:rPr>
              <a:t>학생들이 실제로 돈을 낼까?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257800" cy="18288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0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37959" y="2194560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94560"/>
            <a:ext cx="4023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맑은 고딕"/>
              </a:rPr>
              <a:t>강의 하나당 원가는 얼마가 적당할까?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77639"/>
            <a:ext cx="5257800" cy="18288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0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4297679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39" y="4297679"/>
            <a:ext cx="4023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맑은 고딕"/>
              </a:rPr>
              <a:t>요약보다 퀴즈를 더 많이 쓸까?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977639"/>
            <a:ext cx="5257800" cy="18288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0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37959" y="4297679"/>
            <a:ext cx="594360" cy="5943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297679"/>
            <a:ext cx="402336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맑은 고딕"/>
              </a:rPr>
              <a:t>어느 기능이 Retention을 만드는가?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C11A-41EB-F625-76E6-8A5D6007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14.</a:t>
            </a:r>
            <a:r>
              <a:rPr lang="ko-KR" altLang="en-US" dirty="0"/>
              <a:t> 향후 발전 가능성</a:t>
            </a:r>
            <a:endParaRPr lang="en-KR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3E8ED3-4FDB-C40F-EC71-0A5B4CDB5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96510" y="365125"/>
            <a:ext cx="6591300" cy="2552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8BE55C-4452-D000-DF57-DA6C9478293B}"/>
              </a:ext>
            </a:extLst>
          </p:cNvPr>
          <p:cNvSpPr txBox="1"/>
          <p:nvPr/>
        </p:nvSpPr>
        <p:spPr>
          <a:xfrm>
            <a:off x="663246" y="3677920"/>
            <a:ext cx="106905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상용화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기능 고도화 후 웹 배포</a:t>
            </a:r>
            <a:r>
              <a:rPr lang="en-US" altLang="ko-KR" dirty="0"/>
              <a:t>,</a:t>
            </a:r>
            <a:r>
              <a:rPr lang="ko-KR" altLang="en-US" dirty="0"/>
              <a:t> 이후 발전 가능하면 앱 개발</a:t>
            </a:r>
            <a:endParaRPr lang="en-US" altLang="ko-KR" dirty="0"/>
          </a:p>
          <a:p>
            <a:r>
              <a:rPr lang="ko-KR" altLang="en-US" dirty="0"/>
              <a:t>계정 시스템 추가 </a:t>
            </a:r>
            <a:r>
              <a:rPr lang="en-US" altLang="ko-KR" dirty="0"/>
              <a:t>–</a:t>
            </a:r>
            <a:r>
              <a:rPr lang="ko-KR" altLang="en-US" dirty="0"/>
              <a:t> 구독 형식으로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기능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 나의</a:t>
            </a:r>
            <a:r>
              <a:rPr lang="en-US" altLang="ko-KR" dirty="0"/>
              <a:t>＇</a:t>
            </a:r>
            <a:r>
              <a:rPr lang="ko-KR" altLang="en-US" dirty="0"/>
              <a:t>빅데이터</a:t>
            </a:r>
            <a:r>
              <a:rPr lang="en-US" altLang="ko-KR" dirty="0"/>
              <a:t>’</a:t>
            </a:r>
            <a:r>
              <a:rPr lang="ko-KR" altLang="en-US" dirty="0" err="1"/>
              <a:t>를</a:t>
            </a:r>
            <a:r>
              <a:rPr lang="ko-KR" altLang="en-US" dirty="0"/>
              <a:t> 바탕으로 한 개인화 학습 비서</a:t>
            </a:r>
            <a:r>
              <a:rPr lang="en-US" altLang="ko-KR" dirty="0"/>
              <a:t>:</a:t>
            </a:r>
            <a:r>
              <a:rPr lang="ko-KR" altLang="en-US" dirty="0"/>
              <a:t> 학기 단위로 학습 알고리즘 제시해주는 </a:t>
            </a:r>
            <a:r>
              <a:rPr lang="en-US" altLang="ko-KR" dirty="0"/>
              <a:t>AI – </a:t>
            </a:r>
            <a:r>
              <a:rPr lang="ko-KR" altLang="en-US" dirty="0"/>
              <a:t>퀴즈를 바탕으로 나의 취약 데이터</a:t>
            </a:r>
            <a:r>
              <a:rPr lang="en-US" altLang="ko-KR" dirty="0"/>
              <a:t>,</a:t>
            </a:r>
            <a:r>
              <a:rPr lang="ko-KR" altLang="en-US" dirty="0"/>
              <a:t> 그리고 교수님의 말버릇 등을 학습해 중요한 부분 강조 패턴</a:t>
            </a:r>
            <a:r>
              <a:rPr lang="en-US" altLang="ko-KR" dirty="0"/>
              <a:t>,</a:t>
            </a:r>
            <a:r>
              <a:rPr lang="ko-KR" altLang="en-US" dirty="0"/>
              <a:t> 퀴즈 패턴 정형화 </a:t>
            </a:r>
            <a:r>
              <a:rPr lang="en-US" altLang="ko-KR" dirty="0"/>
              <a:t>-</a:t>
            </a:r>
            <a:r>
              <a:rPr lang="ko-KR" altLang="en-US" dirty="0"/>
              <a:t> 해당 과목 맞춤 학습 가이드라인을 주는 </a:t>
            </a:r>
            <a:r>
              <a:rPr lang="en-US" altLang="ko-KR" dirty="0"/>
              <a:t>AI</a:t>
            </a:r>
            <a:r>
              <a:rPr lang="ko-KR" altLang="en-US" dirty="0"/>
              <a:t> </a:t>
            </a:r>
            <a:endParaRPr lang="en-KR" altLang="ko-KR" dirty="0"/>
          </a:p>
        </p:txBody>
      </p:sp>
    </p:spTree>
    <p:extLst>
      <p:ext uri="{BB962C8B-B14F-4D97-AF65-F5344CB8AC3E}">
        <p14:creationId xmlns:p14="http://schemas.microsoft.com/office/powerpoint/2010/main" val="3493042173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/>
              <a:t>12. 원가 검증 ① 교정 AI 모델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품질 기준 = terra · 강의당/월(120강의) 원가 · 실측 토큰 기반 추정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83080"/>
          <a:ext cx="10515600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383280"/>
                <a:gridCol w="2286000"/>
                <a:gridCol w="274320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 anchor="ctr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강의당</a:t>
                      </a:r>
                    </a:p>
                  </a:txBody>
                  <a:tcPr anchor="ctr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120강의/월</a:t>
                      </a:r>
                    </a:p>
                  </a:txBody>
                  <a:tcPr anchor="ctr" marT="38100" marB="38100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교정 품질</a:t>
                      </a:r>
                    </a:p>
                  </a:txBody>
                  <a:tcPr anchor="ctr" marT="38100" marB="38100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terra (기준)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359원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43,042원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최고 (기준)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claude-haiku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172원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20,649원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55555"/>
                          </a:solidFill>
                          <a:latin typeface="맑은 고딕"/>
                        </a:rPr>
                        <a:t>검증 중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luna</a:t>
                      </a:r>
                    </a:p>
                  </a:txBody>
                  <a:tcPr anchor="ctr" marT="38100" marB="3810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139원</a:t>
                      </a:r>
                    </a:p>
                  </a:txBody>
                  <a:tcPr anchor="ctr" marT="38100" marB="3810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16,727원</a:t>
                      </a:r>
                    </a:p>
                  </a:txBody>
                  <a:tcPr anchor="ctr" marT="38100" marB="38100">
                    <a:solidFill>
                      <a:srgbClr val="E8F5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D9E75"/>
                          </a:solidFill>
                          <a:latin typeface="맑은 고딕"/>
                        </a:rPr>
                        <a:t>양호 · terra 근접</a:t>
                      </a:r>
                    </a:p>
                  </a:txBody>
                  <a:tcPr anchor="ctr" marT="38100" marB="38100">
                    <a:solidFill>
                      <a:srgbClr val="E8F5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gpt-4.1-mini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51원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6,156원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55555"/>
                          </a:solidFill>
                          <a:latin typeface="맑은 고딕"/>
                        </a:rPr>
                        <a:t>검증 중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deepseek-v4-flash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11원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1,378원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55555"/>
                          </a:solidFill>
                          <a:latin typeface="맑은 고딕"/>
                        </a:rPr>
                        <a:t>검증 중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864"/>
                          </a:solidFill>
                          <a:latin typeface="맑은 고딕"/>
                        </a:rPr>
                        <a:t>gpt-4.1-nano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7원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55555"/>
                          </a:solidFill>
                          <a:latin typeface="맑은 고딕"/>
                        </a:rPr>
                        <a:t>788원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03A2E"/>
                          </a:solidFill>
                          <a:latin typeface="맑은 고딕"/>
                        </a:rPr>
                        <a:t>미흡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166360"/>
            <a:ext cx="10515600" cy="105156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285232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맑은 고딕"/>
              </a:rPr>
              <a:t>terra는 최고 품질이지만 월 4.3만원(예산 초과). luna는 품질이 terra에 근접 + 원가 1/3(월 1.7만원) → 현재 유력 후보.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맑은 고딕"/>
              </a:rPr>
              <a:t>더 저렴한 모델은 원가는 낮으나 출력 잘림·미흡 신호 → 품질 검증 예정.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500"/>
              <a:t>13. 원가 검증 ② 전사(STT) 이슈 &amp; 대응 계획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10881360" cy="105156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D0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82495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A6410"/>
                </a:solidFill>
                <a:latin typeface="맑은 고딕"/>
              </a:rPr>
              <a:t>현재 이슈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전사에 작고 빠른 Whisper 모델 사용 → 정확도가 낮아 교정 품질에도 영향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0881360" cy="105156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D0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871216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맑은 고딕"/>
              </a:rPr>
              <a:t>계획 ① 전사 모델 업그레이드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더 좋은 전사 모델로 교체한 뒤 '고품질 전사 + AI 교정'의 비용·품질을 재평가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10881360" cy="13716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0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059935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맑은 고딕"/>
              </a:rPr>
              <a:t>계획 ② (대안) 서비스 흐름 전환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적정 비용·품질 모델을 못 찾으면, 전사 교정은 사용자 AI에 위임 → '녹음 → 매칭'이 아니라 '교정된 전사본 → 강의록 매칭' 방식으로 전환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40680"/>
            <a:ext cx="10881360" cy="1005840"/>
          </a:xfrm>
          <a:prstGeom prst="roundRect">
            <a:avLst/>
          </a:prstGeom>
          <a:solidFill>
            <a:srgbClr val="FBF1DF"/>
          </a:solidFill>
          <a:ln w="12700">
            <a:solidFill>
              <a:srgbClr val="D0D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568696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A6410"/>
                </a:solidFill>
                <a:latin typeface="맑은 고딕"/>
              </a:rPr>
              <a:t>고려사항 · 인프라 비용</a:t>
            </a:r>
          </a:p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Whisper는 현재 로컬 모델 → 상용화 시 서버(GPU) 비용이 추가로 들 수 있어 원가에 반영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807</Words>
  <Application>Microsoft Macintosh PowerPoint</Application>
  <PresentationFormat>Widescreen</PresentationFormat>
  <Paragraphs>103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NanumGothic</vt:lpstr>
      <vt:lpstr>Aptos</vt:lpstr>
      <vt:lpstr>Aptos Display</vt:lpstr>
      <vt:lpstr>Arial</vt:lpstr>
      <vt:lpstr>Avenir Book</vt:lpstr>
      <vt:lpstr>Office Theme</vt:lpstr>
      <vt:lpstr>1Q</vt:lpstr>
      <vt:lpstr>1. 팀 소개: 미니스터디</vt:lpstr>
      <vt:lpstr>2. 아이템 한 줄 소개</vt:lpstr>
      <vt:lpstr>3. 문제 정의 : 1. 수업 중 필기의 문제 강의 중 필기와 이해를 동시에 하지 못 함 교수님의 설명을 놓칠 때가 많음 </vt:lpstr>
      <vt:lpstr>3. 문제정의 2.  우리는 공부보다 ‘정리’에 너무 많은 시간을 쓰고 있습니다.</vt:lpstr>
      <vt:lpstr>4. 주요 사용자</vt:lpstr>
      <vt:lpstr>5. 기존 방식의 한계</vt:lpstr>
      <vt:lpstr>6. 해결방식 1Q가 강의 시작부터 끝까지 한 파일로 해결해줍니다.</vt:lpstr>
      <vt:lpstr>7. MVP 소개 및 시연 흐름</vt:lpstr>
      <vt:lpstr>8. 사용자 검증 또는 피드백 : 주변 반응</vt:lpstr>
      <vt:lpstr>9. 향후 발전 가능성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노예린(의학과)</dc:creator>
  <cp:lastModifiedBy>노예린(의학과)</cp:lastModifiedBy>
  <cp:revision>2</cp:revision>
  <dcterms:created xsi:type="dcterms:W3CDTF">2026-07-09T21:34:00Z</dcterms:created>
  <dcterms:modified xsi:type="dcterms:W3CDTF">2026-07-10T06:21:58Z</dcterms:modified>
</cp:coreProperties>
</file>